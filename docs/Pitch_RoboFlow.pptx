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1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RoboFlow é uma linguagem + front-end para o operador definir o que o AGV faz em cada estação.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Dor: hoje quem opera o armazém depende de quem programa o robô. Isso é lento e arriscado.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o operador configura no front-end, o front gera o RoboFlow, o compilador valida, o AGV executa.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front-end: o RoboFlow Studio. A configuração da rota nasce aqui e o código RoboFlow sai em cima dela. O operador acompanha cada etapa do compilador (léxica, sintática, semântica) e termina gerando o binário para o AGV. Quem quiser mais controle edita a linguagem direto no editor (modo avançado), agora ou como evolução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é produto: usa o tipo de AGV que a indústria já usa, com hardware barato e sem depender de nuvem.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de resolver um problema prático, o projeto vira objeto de estudo: a modelagem formal do RoboFlow documentada como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Análise léxica: cada classe de token é definida por uma expressão regular. O lexer descarta espaços e comentários e aplica maximal munch, por isso 30s vira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Análise sintática: o parser confere se a sequência de tokens respeita a gramática e monta a AST. Se a estrutura estiver errada, o erro aparece com código e posição e nada segue para a geração.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projeto: definimos, formalizamos, implementamos e validamos.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4480560"/>
            <a:ext cx="4023360" cy="40233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052560" y="2286000"/>
            <a:ext cx="2377440" cy="2377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469" y="292790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 E COMPILADORES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1168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RoboFlow</a:t>
            </a:r>
            <a:endParaRPr lang="en-US" sz="9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diz o que o AGV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em cada estação.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Logística Inteligente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Mudar a rotina do robô ainda exige um especialista.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914400" cy="9144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4015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4297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especialista mexe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846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estação ou novo layout depende de quem sabe robótica.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98264" y="27889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764024" y="3154680"/>
            <a:ext cx="914400" cy="9144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4015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64024" y="4297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vira chamado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764024" y="4846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ajuste espera o time técnico e trava a operação.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56448" y="27889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522208" y="3154680"/>
            <a:ext cx="914400" cy="9144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34015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22208" y="4297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chega ao robô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522208" y="4846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validação, um comando errado para o AGV na pista.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operador configura. O robô executa.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segue o jeito que o operador já pensa: chegou na estação, o que eu faço?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822960" cy="8229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34683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7365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configura a estação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4069080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292608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3749040" y="3246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1239" y="3468319"/>
            <a:ext cx="378562" cy="3785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4904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749040" y="47365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vira código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4069080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09360" y="292608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2"/>
          <p:cNvSpPr/>
          <p:nvPr/>
        </p:nvSpPr>
        <p:spPr>
          <a:xfrm>
            <a:off x="6583680" y="3246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879" y="3468319"/>
            <a:ext cx="378562" cy="37856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58368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</a:t>
            </a:r>
            <a:endParaRPr lang="en-US" sz="2200" dirty="0"/>
          </a:p>
        </p:txBody>
      </p:sp>
      <p:sp>
        <p:nvSpPr>
          <p:cNvPr id="21" name="Text 14"/>
          <p:cNvSpPr txBox="1"/>
          <p:nvPr/>
        </p:nvSpPr>
        <p:spPr>
          <a:xfrm>
            <a:off x="6583680" y="47365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antes de rodar</a:t>
            </a:r>
            <a:endParaRPr lang="en-US" sz="15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2" y="4069080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44000" y="292608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6"/>
          <p:cNvSpPr/>
          <p:nvPr/>
        </p:nvSpPr>
        <p:spPr>
          <a:xfrm>
            <a:off x="9418320" y="3246120"/>
            <a:ext cx="822960" cy="8229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519" y="3468319"/>
            <a:ext cx="378562" cy="37856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41832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</a:t>
            </a:r>
            <a:endParaRPr lang="en-US" sz="2200" dirty="0"/>
          </a:p>
        </p:txBody>
      </p:sp>
      <p:sp>
        <p:nvSpPr>
          <p:cNvPr id="27" name="Text 18"/>
          <p:cNvSpPr txBox="1"/>
          <p:nvPr/>
        </p:nvSpPr>
        <p:spPr>
          <a:xfrm>
            <a:off x="9418320" y="47365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Executa, sem técnico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FRONT-END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RoboFlow Studio: do editor ao robô.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67512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C:/Users/breno/AppData/Local/Temp/rfa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39112"/>
            <a:ext cx="6528816" cy="37336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965960"/>
            <a:ext cx="3959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C:/Users/breno/AppData/Local/Temp/rfa/thum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057400"/>
            <a:ext cx="9144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3252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LÉXICA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Rota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a rota e vê os tokens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589520" y="2971800"/>
            <a:ext cx="3959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2" descr="C:/Users/breno/AppData/Local/Temp/rfa/thum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063240"/>
            <a:ext cx="9144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3252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SINTÁTICA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da Rota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validada e árvore AST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7589520" y="3977640"/>
            <a:ext cx="3959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3" descr="C:/Users/breno/AppData/Local/Temp/rfa/thumb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4069080"/>
            <a:ext cx="9144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32520" y="4023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SEMÂNTICA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Semântica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 erro e sugere a correção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7589520" y="4983480"/>
            <a:ext cx="39593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4" descr="C:/Users/breno/AppData/Local/Temp/rfa/thumb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5074920"/>
            <a:ext cx="914400" cy="6858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32520" y="5029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DEPLOY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Comportamento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binário e envia ao AGV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640080" y="603504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2"/>
          <p:cNvSpPr txBox="1"/>
          <p:nvPr/>
        </p:nvSpPr>
        <p:spPr>
          <a:xfrm>
            <a:off x="640080" y="6035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nasce no Studio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532120" y="603504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4"/>
          <p:cNvSpPr txBox="1"/>
          <p:nvPr/>
        </p:nvSpPr>
        <p:spPr>
          <a:xfrm>
            <a:off x="5532120" y="6035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avançado: acesso direto à linguagem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MERCADO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Produto, não protótipo.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76088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05840" y="2560320"/>
            <a:ext cx="822960" cy="8229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39" y="278251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da indústria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9718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seguidor de linha: simples, barato e previsível.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72784" y="2103120"/>
            <a:ext cx="5276088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638544" y="2560320"/>
            <a:ext cx="822960" cy="8229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743" y="278251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35824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 por estação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735824" y="29718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o comportamento é reescrever um bloco.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76088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1005840" y="4572000"/>
            <a:ext cx="822960" cy="8229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039" y="479419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480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nuvem, sem middleware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4983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Raspberry Pi. Tudo roda no chão de fábrica.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72784" y="4114800"/>
            <a:ext cx="5276088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638544" y="4572000"/>
            <a:ext cx="822960" cy="8229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743" y="479419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35824" y="4480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em PME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7735824" y="4983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acessível, sem engenheiro dedicado por operação.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ACADÊMICA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armazém para o papel.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05840" y="2468880"/>
            <a:ext cx="1188720" cy="118872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94" y="2789834"/>
            <a:ext cx="546811" cy="5468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Artigo científico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526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de linguagens e compiladores aplicada à robótica logística, como estudo de caso.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0" y="2103120"/>
            <a:ext cx="6519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303520" y="224028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303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103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motivação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29200" y="3017520"/>
            <a:ext cx="6519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303520" y="315468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5303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017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relacionados: DSLs em robótica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029200" y="3931920"/>
            <a:ext cx="6519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303520" y="406908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5303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3931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formal: léxico e gramática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029200" y="4846320"/>
            <a:ext cx="651967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303520" y="498348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5303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48463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 resultados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 · 1 · LÉXICO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rotina aos tokens.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08291F"/>
          </a:solidFill>
          <a:ln w="12700">
            <a:solidFill>
              <a:srgbClr val="08291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05840" y="19659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wait_signal</a:t>
            </a:r>
            <a:r>
              <a:rPr lang="en-US" sz="2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"carga_completa"</a:t>
            </a:r>
            <a:r>
              <a:rPr lang="en-US" sz="2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2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r>
              <a:rPr lang="en-US" sz="22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30s)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26080"/>
            <a:ext cx="31089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429000"/>
            <a:ext cx="1542593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640080" y="3493008"/>
            <a:ext cx="15425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67328"/>
            <a:ext cx="1542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wait_signal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46220" y="342900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2346220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346220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15607" y="3429000"/>
            <a:ext cx="2077517" cy="9144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3515607" y="3493008"/>
            <a:ext cx="20775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515607" y="3767328"/>
            <a:ext cx="2077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"carga_completa"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56671" y="342900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5756671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56671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926057" y="3429000"/>
            <a:ext cx="1114654" cy="9144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6926057" y="3493008"/>
            <a:ext cx="1114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926057" y="3767328"/>
            <a:ext cx="1114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04258" y="342900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8204258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204258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373645" y="342900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9373645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373645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543032" y="342900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 txBox="1"/>
          <p:nvPr/>
        </p:nvSpPr>
        <p:spPr>
          <a:xfrm>
            <a:off x="10543032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543032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4754880"/>
            <a:ext cx="3392424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868680" y="507492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5247742"/>
            <a:ext cx="294437" cy="29443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6916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reservadas</a:t>
            </a:r>
            <a:endParaRPr lang="en-US" sz="1700" dirty="0"/>
          </a:p>
        </p:txBody>
      </p:sp>
      <p:sp>
        <p:nvSpPr>
          <p:cNvPr id="35" name="Text 31"/>
          <p:cNvSpPr txBox="1"/>
          <p:nvPr/>
        </p:nvSpPr>
        <p:spPr>
          <a:xfrm>
            <a:off x="1691640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point, on_arrival, stop, wait_signal…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398264" y="4754880"/>
            <a:ext cx="3392424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3"/>
          <p:cNvSpPr/>
          <p:nvPr/>
        </p:nvSpPr>
        <p:spPr>
          <a:xfrm>
            <a:off x="4626864" y="507492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686" y="5247742"/>
            <a:ext cx="294437" cy="29443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5449824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descartado</a:t>
            </a:r>
            <a:endParaRPr lang="en-US" sz="1700" dirty="0"/>
          </a:p>
        </p:txBody>
      </p:sp>
      <p:sp>
        <p:nvSpPr>
          <p:cNvPr id="40" name="Text 35"/>
          <p:cNvSpPr txBox="1"/>
          <p:nvPr/>
        </p:nvSpPr>
        <p:spPr>
          <a:xfrm>
            <a:off x="5449824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Espaços e comentários somem antes do parser.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8156448" y="4754880"/>
            <a:ext cx="3392424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37"/>
          <p:cNvSpPr/>
          <p:nvPr/>
        </p:nvSpPr>
        <p:spPr>
          <a:xfrm>
            <a:off x="8385048" y="5074920"/>
            <a:ext cx="640080" cy="640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870" y="5247742"/>
            <a:ext cx="294437" cy="294437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208008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lexema vence</a:t>
            </a:r>
            <a:endParaRPr lang="en-US" sz="1700" dirty="0"/>
          </a:p>
        </p:txBody>
      </p:sp>
      <p:sp>
        <p:nvSpPr>
          <p:cNvPr id="45" name="Text 39"/>
          <p:cNvSpPr txBox="1"/>
          <p:nvPr/>
        </p:nvSpPr>
        <p:spPr>
          <a:xfrm>
            <a:off x="9208008" y="53218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é DURATION, não NUMBER + ID.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 · 2 · SINTÁTICO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gramática valida a estrutura.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08291F"/>
          </a:solidFill>
          <a:ln w="12700">
            <a:solidFill>
              <a:srgbClr val="08291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(BNF)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  </a:t>
            </a:r>
            <a:r>
              <a:rPr lang="en-US" sz="15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"route" STRING "{" point+ "}"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  </a:t>
            </a:r>
            <a:r>
              <a:rPr lang="en-US" sz="15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"point" STRING "{" handler "}"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 </a:t>
            </a:r>
            <a:r>
              <a:rPr lang="en-US" sz="15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"on_arrival" "{" action* "}"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</a:t>
            </a:r>
            <a:r>
              <a:rPr lang="en-US" sz="150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::= ID "(" args ")"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6400800" cy="685800"/>
          </a:xfrm>
          <a:prstGeom prst="roundRect">
            <a:avLst>
              <a:gd name="adj" fmla="val 4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árvore sintática (AST) com linha e coluna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0" y="2011680"/>
            <a:ext cx="42336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543800" y="2167128"/>
            <a:ext cx="512064" cy="51206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57" y="2305385"/>
            <a:ext cx="235549" cy="23554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753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não fechado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RF2002 · erro sintático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2971800"/>
            <a:ext cx="42336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7543800" y="3127248"/>
            <a:ext cx="512064" cy="51206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57" y="3265505"/>
            <a:ext cx="235549" cy="23554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inválidos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RF2003 · erro sintático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315200" y="3931920"/>
            <a:ext cx="423367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B433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7543800" y="4087368"/>
            <a:ext cx="512064" cy="51206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57" y="4225625"/>
            <a:ext cx="235549" cy="23554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esperado ausente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RF2001 · erro sintático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315200" y="5029200"/>
            <a:ext cx="4233672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 txBox="1"/>
          <p:nvPr/>
        </p:nvSpPr>
        <p:spPr>
          <a:xfrm>
            <a:off x="7315200" y="502920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inválida: nada é gerado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ao robô, em quatro passos.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87752" cy="3017520"/>
          </a:xfrm>
          <a:prstGeom prst="roundRect">
            <a:avLst>
              <a:gd name="adj" fmla="val 424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731520" cy="7315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um problema real: programar AGVs sem depender de especialista.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10712" y="2103120"/>
            <a:ext cx="2587752" cy="3017520"/>
          </a:xfrm>
          <a:prstGeom prst="roundRect">
            <a:avLst>
              <a:gd name="adj" fmla="val 424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85032" y="2423160"/>
            <a:ext cx="731520" cy="7315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685032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886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Alfabeto, tokens e gramática antes de escrever o compilador.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2103120"/>
            <a:ext cx="2587752" cy="3017520"/>
          </a:xfrm>
          <a:prstGeom prst="roundRect">
            <a:avLst>
              <a:gd name="adj" fmla="val 424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55664" y="2423160"/>
            <a:ext cx="731520" cy="7315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455664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886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Front-end, analisador léxico, parser e gerador de código.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51976" y="2103120"/>
            <a:ext cx="2587752" cy="3017520"/>
          </a:xfrm>
          <a:prstGeom prst="roundRect">
            <a:avLst>
              <a:gd name="adj" fmla="val 424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226296" y="2423160"/>
            <a:ext cx="731520" cy="7315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22629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886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inválidas são barradas antes de chegar ao robô.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o bastante para uma disciplina, completo o bastante para ir da teoria ao robô.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09167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4480560"/>
            <a:ext cx="4023360" cy="40233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 E COMPILADORES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opera, programa.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Perguntas?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· Automação Logística Inteligente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Widescreen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RoboFlow</dc:title>
  <dc:subject>PptxGenJS Presentation</dc:subject>
  <dc:creator>PptxGenJS</dc:creator>
  <cp:lastModifiedBy>Breno Chaves</cp:lastModifiedBy>
  <cp:revision>1</cp:revision>
  <dcterms:created xsi:type="dcterms:W3CDTF">2026-09-21T18:37:13Z</dcterms:created>
  <dcterms:modified xsi:type="dcterms:W3CDTF">2026-09-21T18:41:44Z</dcterms:modified>
</cp:coreProperties>
</file>